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9" r:id="rId1"/>
  </p:sldMasterIdLst>
  <p:sldIdLst>
    <p:sldId id="260" r:id="rId2"/>
    <p:sldId id="281" r:id="rId3"/>
    <p:sldId id="261" r:id="rId4"/>
    <p:sldId id="263" r:id="rId5"/>
    <p:sldId id="264" r:id="rId6"/>
    <p:sldId id="265" r:id="rId7"/>
    <p:sldId id="266" r:id="rId8"/>
    <p:sldId id="267" r:id="rId9"/>
    <p:sldId id="269" r:id="rId10"/>
    <p:sldId id="270" r:id="rId11"/>
    <p:sldId id="271" r:id="rId12"/>
    <p:sldId id="272" r:id="rId13"/>
    <p:sldId id="273" r:id="rId14"/>
    <p:sldId id="274" r:id="rId15"/>
    <p:sldId id="275" r:id="rId16"/>
    <p:sldId id="280" r:id="rId17"/>
    <p:sldId id="28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F236A78-3645-4853-90EC-A0C1693267D4}" v="2" dt="2025-08-03T09:07:24.4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48" autoAdjust="0"/>
    <p:restoredTop sz="95033" autoAdjust="0"/>
  </p:normalViewPr>
  <p:slideViewPr>
    <p:cSldViewPr snapToGrid="0">
      <p:cViewPr varScale="1">
        <p:scale>
          <a:sx n="82" d="100"/>
          <a:sy n="82" d="100"/>
        </p:scale>
        <p:origin x="55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EBCABAC-6FD0-4E4C-BF28-EE120B3696BF}" type="datetimeFigureOut">
              <a:rPr lang="en-US" smtClean="0"/>
              <a:t>8/5/2025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8AC24A-7D00-4DBF-974C-7B1F07836D53}"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96131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EBCABAC-6FD0-4E4C-BF28-EE120B3696BF}" type="datetimeFigureOut">
              <a:rPr lang="en-US" smtClean="0"/>
              <a:t>8/5/2025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8AC24A-7D00-4DBF-974C-7B1F07836D53}" type="slidenum">
              <a:rPr lang="en-US" smtClean="0"/>
              <a:t>‹#›</a:t>
            </a:fld>
            <a:endParaRPr lang="en-US"/>
          </a:p>
        </p:txBody>
      </p:sp>
    </p:spTree>
    <p:extLst>
      <p:ext uri="{BB962C8B-B14F-4D97-AF65-F5344CB8AC3E}">
        <p14:creationId xmlns:p14="http://schemas.microsoft.com/office/powerpoint/2010/main" val="9714568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EBCABAC-6FD0-4E4C-BF28-EE120B3696BF}" type="datetimeFigureOut">
              <a:rPr lang="en-US" smtClean="0"/>
              <a:t>8/5/2025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8AC24A-7D00-4DBF-974C-7B1F07836D53}"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3860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EBCABAC-6FD0-4E4C-BF28-EE120B3696BF}" type="datetimeFigureOut">
              <a:rPr lang="en-US" smtClean="0"/>
              <a:t>8/5/2025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8AC24A-7D00-4DBF-974C-7B1F07836D53}" type="slidenum">
              <a:rPr lang="en-US" smtClean="0"/>
              <a:t>‹#›</a:t>
            </a:fld>
            <a:endParaRPr lang="en-US"/>
          </a:p>
        </p:txBody>
      </p:sp>
    </p:spTree>
    <p:extLst>
      <p:ext uri="{BB962C8B-B14F-4D97-AF65-F5344CB8AC3E}">
        <p14:creationId xmlns:p14="http://schemas.microsoft.com/office/powerpoint/2010/main" val="14650807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EBCABAC-6FD0-4E4C-BF28-EE120B3696BF}" type="datetimeFigureOut">
              <a:rPr lang="en-US" smtClean="0"/>
              <a:t>8/5/2025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B8AC24A-7D00-4DBF-974C-7B1F07836D53}" type="slidenum">
              <a:rPr lang="en-US" smtClean="0"/>
              <a:t>‹#›</a:t>
            </a:fld>
            <a:endParaRPr lang="en-US"/>
          </a:p>
        </p:txBody>
      </p:sp>
    </p:spTree>
    <p:extLst>
      <p:ext uri="{BB962C8B-B14F-4D97-AF65-F5344CB8AC3E}">
        <p14:creationId xmlns:p14="http://schemas.microsoft.com/office/powerpoint/2010/main" val="3093169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EBCABAC-6FD0-4E4C-BF28-EE120B3696BF}" type="datetimeFigureOut">
              <a:rPr lang="en-US" smtClean="0"/>
              <a:t>8/5/2025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B8AC24A-7D00-4DBF-974C-7B1F07836D53}" type="slidenum">
              <a:rPr lang="en-US" smtClean="0"/>
              <a:t>‹#›</a:t>
            </a:fld>
            <a:endParaRPr lang="en-US"/>
          </a:p>
        </p:txBody>
      </p:sp>
    </p:spTree>
    <p:extLst>
      <p:ext uri="{BB962C8B-B14F-4D97-AF65-F5344CB8AC3E}">
        <p14:creationId xmlns:p14="http://schemas.microsoft.com/office/powerpoint/2010/main" val="4803828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EBCABAC-6FD0-4E4C-BF28-EE120B3696BF}" type="datetimeFigureOut">
              <a:rPr lang="en-US" smtClean="0"/>
              <a:t>8/5/2025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0B8AC24A-7D00-4DBF-974C-7B1F07836D53}" type="slidenum">
              <a:rPr lang="en-US" smtClean="0"/>
              <a:t>‹#›</a:t>
            </a:fld>
            <a:endParaRPr lang="en-US"/>
          </a:p>
        </p:txBody>
      </p:sp>
    </p:spTree>
    <p:extLst>
      <p:ext uri="{BB962C8B-B14F-4D97-AF65-F5344CB8AC3E}">
        <p14:creationId xmlns:p14="http://schemas.microsoft.com/office/powerpoint/2010/main" val="29579016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EBCABAC-6FD0-4E4C-BF28-EE120B3696BF}" type="datetimeFigureOut">
              <a:rPr lang="en-US" smtClean="0"/>
              <a:t>8/5/2025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0B8AC24A-7D00-4DBF-974C-7B1F07836D53}" type="slidenum">
              <a:rPr lang="en-US" smtClean="0"/>
              <a:t>‹#›</a:t>
            </a:fld>
            <a:endParaRPr lang="en-US"/>
          </a:p>
        </p:txBody>
      </p:sp>
    </p:spTree>
    <p:extLst>
      <p:ext uri="{BB962C8B-B14F-4D97-AF65-F5344CB8AC3E}">
        <p14:creationId xmlns:p14="http://schemas.microsoft.com/office/powerpoint/2010/main" val="35224900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EBCABAC-6FD0-4E4C-BF28-EE120B3696BF}" type="datetimeFigureOut">
              <a:rPr lang="en-US" smtClean="0"/>
              <a:t>8/5/2025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8AC24A-7D00-4DBF-974C-7B1F07836D53}" type="slidenum">
              <a:rPr lang="en-US" smtClean="0"/>
              <a:t>‹#›</a:t>
            </a:fld>
            <a:endParaRPr lang="en-US"/>
          </a:p>
        </p:txBody>
      </p:sp>
    </p:spTree>
    <p:extLst>
      <p:ext uri="{BB962C8B-B14F-4D97-AF65-F5344CB8AC3E}">
        <p14:creationId xmlns:p14="http://schemas.microsoft.com/office/powerpoint/2010/main" val="7010818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EBCABAC-6FD0-4E4C-BF28-EE120B3696BF}" type="datetimeFigureOut">
              <a:rPr lang="en-US" smtClean="0"/>
              <a:t>8/5/2025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8AC24A-7D00-4DBF-974C-7B1F07836D53}" type="slidenum">
              <a:rPr lang="en-US" smtClean="0"/>
              <a:t>‹#›</a:t>
            </a:fld>
            <a:endParaRPr lang="en-US"/>
          </a:p>
        </p:txBody>
      </p:sp>
    </p:spTree>
    <p:extLst>
      <p:ext uri="{BB962C8B-B14F-4D97-AF65-F5344CB8AC3E}">
        <p14:creationId xmlns:p14="http://schemas.microsoft.com/office/powerpoint/2010/main" val="26540975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EBCABAC-6FD0-4E4C-BF28-EE120B3696BF}" type="datetimeFigureOut">
              <a:rPr lang="en-US" smtClean="0"/>
              <a:t>8/5/2025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8AC24A-7D00-4DBF-974C-7B1F07836D53}" type="slidenum">
              <a:rPr lang="en-US" smtClean="0"/>
              <a:t>‹#›</a:t>
            </a:fld>
            <a:endParaRPr lang="en-US"/>
          </a:p>
        </p:txBody>
      </p:sp>
    </p:spTree>
    <p:extLst>
      <p:ext uri="{BB962C8B-B14F-4D97-AF65-F5344CB8AC3E}">
        <p14:creationId xmlns:p14="http://schemas.microsoft.com/office/powerpoint/2010/main" val="25600083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DEBCABAC-6FD0-4E4C-BF28-EE120B3696BF}" type="datetimeFigureOut">
              <a:rPr lang="en-US" smtClean="0"/>
              <a:t>8/5/2025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0B8AC24A-7D00-4DBF-974C-7B1F07836D53}"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864802"/>
      </p:ext>
    </p:extLst>
  </p:cSld>
  <p:clrMap bg1="lt1" tx1="dk1" bg2="lt2" tx2="dk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B4961A4-2FED-93E7-7204-1D2B89CEE283}"/>
              </a:ext>
            </a:extLst>
          </p:cNvPr>
          <p:cNvSpPr txBox="1"/>
          <p:nvPr/>
        </p:nvSpPr>
        <p:spPr>
          <a:xfrm>
            <a:off x="1613647" y="439271"/>
            <a:ext cx="7494494" cy="1200329"/>
          </a:xfrm>
          <a:prstGeom prst="rect">
            <a:avLst/>
          </a:prstGeom>
          <a:noFill/>
        </p:spPr>
        <p:txBody>
          <a:bodyPr wrap="square" rtlCol="0">
            <a:spAutoFit/>
          </a:bodyPr>
          <a:lstStyle/>
          <a:p>
            <a:pPr algn="ctr"/>
            <a:r>
              <a:rPr lang="en-US" sz="3600" b="1" u="sng" dirty="0">
                <a:latin typeface="Times New Roman" panose="02020603050405020304" pitchFamily="18" charset="0"/>
                <a:cs typeface="Times New Roman" panose="02020603050405020304" pitchFamily="18" charset="0"/>
              </a:rPr>
              <a:t>MACHINE LEARNING WITH PYTHON</a:t>
            </a:r>
          </a:p>
        </p:txBody>
      </p:sp>
      <p:sp>
        <p:nvSpPr>
          <p:cNvPr id="6" name="TextBox 5">
            <a:extLst>
              <a:ext uri="{FF2B5EF4-FFF2-40B4-BE49-F238E27FC236}">
                <a16:creationId xmlns:a16="http://schemas.microsoft.com/office/drawing/2014/main" id="{6105C75E-9538-2570-32AB-05AAB0F61A31}"/>
              </a:ext>
            </a:extLst>
          </p:cNvPr>
          <p:cNvSpPr txBox="1"/>
          <p:nvPr/>
        </p:nvSpPr>
        <p:spPr>
          <a:xfrm>
            <a:off x="3065929" y="2322554"/>
            <a:ext cx="3872753"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Name :</a:t>
            </a:r>
            <a:r>
              <a:rPr lang="en-US" dirty="0">
                <a:latin typeface="Times New Roman" panose="02020603050405020304" pitchFamily="18" charset="0"/>
                <a:cs typeface="Times New Roman" panose="02020603050405020304" pitchFamily="18" charset="0"/>
              </a:rPr>
              <a:t> KOTRA RUPAK SRINIVAS</a:t>
            </a:r>
          </a:p>
        </p:txBody>
      </p:sp>
      <p:sp>
        <p:nvSpPr>
          <p:cNvPr id="7" name="TextBox 6">
            <a:extLst>
              <a:ext uri="{FF2B5EF4-FFF2-40B4-BE49-F238E27FC236}">
                <a16:creationId xmlns:a16="http://schemas.microsoft.com/office/drawing/2014/main" id="{6576353A-E5AA-E829-1E8F-5A66593C7F15}"/>
              </a:ext>
            </a:extLst>
          </p:cNvPr>
          <p:cNvSpPr txBox="1"/>
          <p:nvPr/>
        </p:nvSpPr>
        <p:spPr>
          <a:xfrm>
            <a:off x="3065929" y="2976282"/>
            <a:ext cx="3191436" cy="461665"/>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Regd.no : </a:t>
            </a:r>
            <a:r>
              <a:rPr lang="en-US" dirty="0">
                <a:latin typeface="Times New Roman" panose="02020603050405020304" pitchFamily="18" charset="0"/>
                <a:cs typeface="Times New Roman" panose="02020603050405020304" pitchFamily="18" charset="0"/>
              </a:rPr>
              <a:t>Y23ACS485 </a:t>
            </a:r>
          </a:p>
        </p:txBody>
      </p:sp>
      <p:sp>
        <p:nvSpPr>
          <p:cNvPr id="9" name="TextBox 8">
            <a:extLst>
              <a:ext uri="{FF2B5EF4-FFF2-40B4-BE49-F238E27FC236}">
                <a16:creationId xmlns:a16="http://schemas.microsoft.com/office/drawing/2014/main" id="{81C0401A-618D-76C1-7CFE-389CC6CA583B}"/>
              </a:ext>
            </a:extLst>
          </p:cNvPr>
          <p:cNvSpPr txBox="1"/>
          <p:nvPr/>
        </p:nvSpPr>
        <p:spPr>
          <a:xfrm>
            <a:off x="1806387" y="3706920"/>
            <a:ext cx="6606989"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Department :</a:t>
            </a:r>
            <a:r>
              <a:rPr lang="en-US" dirty="0">
                <a:latin typeface="Times New Roman" panose="02020603050405020304" pitchFamily="18" charset="0"/>
                <a:cs typeface="Times New Roman" panose="02020603050405020304" pitchFamily="18" charset="0"/>
              </a:rPr>
              <a:t> COMPUTER SCIENCE &amp; ENGINEERING</a:t>
            </a:r>
          </a:p>
        </p:txBody>
      </p:sp>
      <p:sp>
        <p:nvSpPr>
          <p:cNvPr id="10" name="TextBox 9">
            <a:extLst>
              <a:ext uri="{FF2B5EF4-FFF2-40B4-BE49-F238E27FC236}">
                <a16:creationId xmlns:a16="http://schemas.microsoft.com/office/drawing/2014/main" id="{3F933AD0-60B4-B9F5-8503-3F6F0CE1C874}"/>
              </a:ext>
            </a:extLst>
          </p:cNvPr>
          <p:cNvSpPr txBox="1"/>
          <p:nvPr/>
        </p:nvSpPr>
        <p:spPr>
          <a:xfrm>
            <a:off x="3523129" y="4275712"/>
            <a:ext cx="4061011" cy="461665"/>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Section : </a:t>
            </a:r>
            <a:r>
              <a:rPr lang="en-US" dirty="0">
                <a:latin typeface="Times New Roman" panose="02020603050405020304" pitchFamily="18" charset="0"/>
                <a:cs typeface="Times New Roman" panose="02020603050405020304" pitchFamily="18" charset="0"/>
              </a:rPr>
              <a:t>‘B’</a:t>
            </a:r>
          </a:p>
        </p:txBody>
      </p:sp>
    </p:spTree>
    <p:extLst>
      <p:ext uri="{BB962C8B-B14F-4D97-AF65-F5344CB8AC3E}">
        <p14:creationId xmlns:p14="http://schemas.microsoft.com/office/powerpoint/2010/main" val="36032371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41CE8C7-72A3-BC5E-3657-972BA9770B5A}"/>
              </a:ext>
            </a:extLst>
          </p:cNvPr>
          <p:cNvSpPr txBox="1"/>
          <p:nvPr/>
        </p:nvSpPr>
        <p:spPr>
          <a:xfrm>
            <a:off x="907814" y="801151"/>
            <a:ext cx="5007794" cy="584775"/>
          </a:xfrm>
          <a:prstGeom prst="rect">
            <a:avLst/>
          </a:prstGeom>
          <a:noFill/>
        </p:spPr>
        <p:txBody>
          <a:bodyPr wrap="square" rtlCol="0">
            <a:spAutoFit/>
          </a:bodyPr>
          <a:lstStyle/>
          <a:p>
            <a:r>
              <a:rPr lang="en-US" sz="3200" b="1" u="sng" dirty="0">
                <a:latin typeface="Times New Roman" panose="02020603050405020304" pitchFamily="18" charset="0"/>
                <a:cs typeface="Times New Roman" panose="02020603050405020304" pitchFamily="18" charset="0"/>
              </a:rPr>
              <a:t>Table of Contents :</a:t>
            </a:r>
          </a:p>
        </p:txBody>
      </p:sp>
      <p:sp>
        <p:nvSpPr>
          <p:cNvPr id="4" name="TextBox 3">
            <a:extLst>
              <a:ext uri="{FF2B5EF4-FFF2-40B4-BE49-F238E27FC236}">
                <a16:creationId xmlns:a16="http://schemas.microsoft.com/office/drawing/2014/main" id="{1B3166F1-8404-5DCC-D3D9-198ED80E6E0F}"/>
              </a:ext>
            </a:extLst>
          </p:cNvPr>
          <p:cNvSpPr txBox="1"/>
          <p:nvPr/>
        </p:nvSpPr>
        <p:spPr>
          <a:xfrm>
            <a:off x="1024172" y="1709916"/>
            <a:ext cx="5325035" cy="3046988"/>
          </a:xfrm>
          <a:prstGeom prst="rect">
            <a:avLst/>
          </a:prstGeom>
          <a:noFill/>
        </p:spPr>
        <p:txBody>
          <a:bodyPr wrap="square" rtlCol="0">
            <a:spAutoFit/>
          </a:bodyPr>
          <a:lstStyle/>
          <a:p>
            <a:pPr marL="342900" indent="-342900" algn="l">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Abstract</a:t>
            </a:r>
          </a:p>
          <a:p>
            <a:pPr marL="342900" indent="-342900" algn="l">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Existing System</a:t>
            </a:r>
          </a:p>
          <a:p>
            <a:pPr marL="342900" indent="-342900" algn="l">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Proposed System</a:t>
            </a:r>
          </a:p>
          <a:p>
            <a:pPr marL="342900" indent="-342900" algn="l">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Flowchart</a:t>
            </a:r>
          </a:p>
          <a:p>
            <a:pPr marL="342900" indent="-342900" algn="l">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Code</a:t>
            </a:r>
          </a:p>
          <a:p>
            <a:pPr marL="342900" indent="-342900" algn="l">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Screenshots</a:t>
            </a:r>
          </a:p>
          <a:p>
            <a:pPr marL="342900" indent="-342900" algn="l">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References</a:t>
            </a:r>
          </a:p>
          <a:p>
            <a:pPr marL="285750" indent="-28575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5807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A03465-24B2-68C7-F6AD-DBA28D374CE1}"/>
              </a:ext>
            </a:extLst>
          </p:cNvPr>
          <p:cNvSpPr txBox="1"/>
          <p:nvPr/>
        </p:nvSpPr>
        <p:spPr>
          <a:xfrm>
            <a:off x="1663411" y="406768"/>
            <a:ext cx="7351058" cy="584775"/>
          </a:xfrm>
          <a:prstGeom prst="rect">
            <a:avLst/>
          </a:prstGeom>
          <a:noFill/>
        </p:spPr>
        <p:txBody>
          <a:bodyPr wrap="square" rtlCol="0">
            <a:spAutoFit/>
          </a:bodyPr>
          <a:lstStyle/>
          <a:p>
            <a:pPr algn="ctr"/>
            <a:r>
              <a:rPr lang="en-IN" sz="3200" b="1" u="sng" dirty="0">
                <a:latin typeface="Times New Roman" panose="02020603050405020304" pitchFamily="18" charset="0"/>
                <a:ea typeface="Cambria" panose="02040503050406030204" pitchFamily="18" charset="0"/>
                <a:cs typeface="Times New Roman" panose="02020603050405020304" pitchFamily="18" charset="0"/>
              </a:rPr>
              <a:t>Titanic-Survival Predictions</a:t>
            </a:r>
            <a:endParaRPr lang="en-US" sz="3200" b="1" u="sng"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9B0AE1A-24AC-1CE9-CBFA-877D5EE0573D}"/>
              </a:ext>
            </a:extLst>
          </p:cNvPr>
          <p:cNvSpPr txBox="1"/>
          <p:nvPr/>
        </p:nvSpPr>
        <p:spPr>
          <a:xfrm>
            <a:off x="620578" y="991543"/>
            <a:ext cx="2085667" cy="523220"/>
          </a:xfrm>
          <a:prstGeom prst="rect">
            <a:avLst/>
          </a:prstGeom>
          <a:noFill/>
        </p:spPr>
        <p:txBody>
          <a:bodyPr wrap="square" rtlCol="0">
            <a:spAutoFit/>
          </a:bodyPr>
          <a:lstStyle/>
          <a:p>
            <a:r>
              <a:rPr lang="en-US" sz="2800" b="1" u="sng" dirty="0">
                <a:latin typeface="Times New Roman" panose="02020603050405020304" pitchFamily="18" charset="0"/>
                <a:ea typeface="Cascadia Code" panose="020B0609020000020004" pitchFamily="49" charset="0"/>
                <a:cs typeface="Times New Roman" panose="02020603050405020304" pitchFamily="18" charset="0"/>
              </a:rPr>
              <a:t>Abstract :</a:t>
            </a:r>
          </a:p>
        </p:txBody>
      </p:sp>
      <p:sp>
        <p:nvSpPr>
          <p:cNvPr id="6" name="TextBox 5">
            <a:extLst>
              <a:ext uri="{FF2B5EF4-FFF2-40B4-BE49-F238E27FC236}">
                <a16:creationId xmlns:a16="http://schemas.microsoft.com/office/drawing/2014/main" id="{EC6607B8-08A0-E1B8-E0CF-3A4F566B8F1F}"/>
              </a:ext>
            </a:extLst>
          </p:cNvPr>
          <p:cNvSpPr txBox="1"/>
          <p:nvPr/>
        </p:nvSpPr>
        <p:spPr>
          <a:xfrm>
            <a:off x="1091683" y="1718795"/>
            <a:ext cx="10077059" cy="3477875"/>
          </a:xfrm>
          <a:prstGeom prst="rect">
            <a:avLst/>
          </a:prstGeom>
          <a:noFill/>
        </p:spPr>
        <p:txBody>
          <a:bodyPr wrap="square" rtlCol="0">
            <a:spAutoFit/>
          </a:bodyPr>
          <a:lstStyle/>
          <a:p>
            <a:pPr marL="342900" indent="-342900" algn="just">
              <a:buFont typeface="Arial" panose="020B0604020202020204" pitchFamily="34" charset="0"/>
              <a:buChar char="•"/>
            </a:pPr>
            <a:r>
              <a:rPr lang="en-IN" sz="2000" dirty="0">
                <a:latin typeface="Times New Roman" panose="02020603050405020304" pitchFamily="18" charset="0"/>
                <a:ea typeface="Cambria" panose="02040503050406030204" pitchFamily="18" charset="0"/>
                <a:cs typeface="Times New Roman" panose="02020603050405020304" pitchFamily="18" charset="0"/>
              </a:rPr>
              <a:t>Introduction to Machine Learning , Definitions, Importance &amp; Applications of Machine Learning.</a:t>
            </a:r>
          </a:p>
          <a:p>
            <a:pPr marL="342900" indent="-342900" algn="just">
              <a:buFont typeface="Arial" panose="020B0604020202020204" pitchFamily="34" charset="0"/>
              <a:buChar char="•"/>
            </a:pPr>
            <a:endParaRPr lang="en-IN" sz="2000" dirty="0">
              <a:latin typeface="Times New Roman" panose="02020603050405020304" pitchFamily="18" charset="0"/>
              <a:ea typeface="Cambria" panose="020405030504060302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ea typeface="Cambria" panose="02040503050406030204" pitchFamily="18" charset="0"/>
                <a:cs typeface="Times New Roman" panose="02020603050405020304" pitchFamily="18" charset="0"/>
              </a:rPr>
              <a:t>Types of Machine Learning</a:t>
            </a:r>
          </a:p>
          <a:p>
            <a:pPr marL="342900" indent="-342900" algn="just">
              <a:buFont typeface="Arial" panose="020B0604020202020204" pitchFamily="34" charset="0"/>
              <a:buChar char="•"/>
            </a:pPr>
            <a:endParaRPr lang="en-IN" sz="2000" dirty="0">
              <a:latin typeface="Times New Roman" panose="02020603050405020304" pitchFamily="18" charset="0"/>
              <a:ea typeface="Cambria" panose="020405030504060302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ea typeface="Cambria" panose="02040503050406030204" pitchFamily="18" charset="0"/>
                <a:cs typeface="Times New Roman" panose="02020603050405020304" pitchFamily="18" charset="0"/>
              </a:rPr>
              <a:t> Supervised, Unsupervised and Reinforcement Learning. These Three types of Learning Method help in Training A Machine. </a:t>
            </a:r>
          </a:p>
          <a:p>
            <a:pPr marL="342900" indent="-342900" algn="just">
              <a:buFont typeface="Arial" panose="020B0604020202020204" pitchFamily="34" charset="0"/>
              <a:buChar char="•"/>
            </a:pPr>
            <a:endParaRPr lang="en-IN" sz="2000" dirty="0">
              <a:latin typeface="Times New Roman" panose="02020603050405020304" pitchFamily="18" charset="0"/>
              <a:ea typeface="Cambria" panose="020405030504060302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ea typeface="Cambria" panose="02040503050406030204" pitchFamily="18" charset="0"/>
                <a:cs typeface="Times New Roman" panose="02020603050405020304" pitchFamily="18" charset="0"/>
              </a:rPr>
              <a:t> Supervised Machine Learning has two types Regression and Classification and its Algorithms are of Two types.</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11032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7A40258-5146-4A46-81B0-F1A934436668}"/>
              </a:ext>
            </a:extLst>
          </p:cNvPr>
          <p:cNvSpPr txBox="1"/>
          <p:nvPr/>
        </p:nvSpPr>
        <p:spPr>
          <a:xfrm>
            <a:off x="903972" y="933059"/>
            <a:ext cx="10384056" cy="3170099"/>
          </a:xfrm>
          <a:prstGeom prst="rect">
            <a:avLst/>
          </a:prstGeom>
          <a:noFill/>
        </p:spPr>
        <p:txBody>
          <a:bodyPr wrap="square" rtlCol="0">
            <a:spAutoFit/>
          </a:bodyPr>
          <a:lstStyle/>
          <a:p>
            <a:pPr marL="342900" indent="-342900" algn="just">
              <a:buFont typeface="Arial" panose="020B0604020202020204" pitchFamily="34" charset="0"/>
              <a:buChar char="•"/>
            </a:pPr>
            <a:r>
              <a:rPr lang="en-IN" sz="2000" dirty="0">
                <a:latin typeface="Times New Roman" panose="02020603050405020304" pitchFamily="18" charset="0"/>
                <a:ea typeface="Cambria" panose="02040503050406030204" pitchFamily="18" charset="0"/>
                <a:cs typeface="Times New Roman" panose="02020603050405020304" pitchFamily="18" charset="0"/>
              </a:rPr>
              <a:t>Finally My Project in Internship Training is on the Topic “Titanic-Survival Prediction.”</a:t>
            </a:r>
          </a:p>
          <a:p>
            <a:pPr marL="342900" indent="-342900" algn="just">
              <a:buFont typeface="Arial" panose="020B0604020202020204" pitchFamily="34" charset="0"/>
              <a:buChar char="•"/>
            </a:pPr>
            <a:endParaRPr lang="en-IN" sz="2000" dirty="0">
              <a:latin typeface="Times New Roman" panose="02020603050405020304" pitchFamily="18" charset="0"/>
              <a:ea typeface="Cambria" panose="020405030504060302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ea typeface="Cambria" panose="02040503050406030204" pitchFamily="18" charset="0"/>
                <a:cs typeface="Times New Roman" panose="02020603050405020304" pitchFamily="18" charset="0"/>
              </a:rPr>
              <a:t>This Titanic-Ship Prediction Project is based on Calculating the Survival of Each Passenger in the Titanic Ship and their Survival Outcome. In this outcome according to the Pivot Table ,females in first class had a survival rate of 96.8% meaning that majority of them Survived. Males of Third class had the lowest Survival rate about 13.54% meaning the majority of them did not Survive.</a:t>
            </a:r>
          </a:p>
          <a:p>
            <a:pPr marL="342900" indent="-342900" algn="just">
              <a:buFont typeface="Arial" panose="020B0604020202020204" pitchFamily="34" charset="0"/>
              <a:buChar char="•"/>
            </a:pPr>
            <a:endParaRPr lang="en-IN" sz="2000" dirty="0">
              <a:latin typeface="Times New Roman" panose="02020603050405020304" pitchFamily="18" charset="0"/>
              <a:ea typeface="Cambria" panose="020405030504060302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ea typeface="Cambria" panose="02040503050406030204" pitchFamily="18" charset="0"/>
                <a:cs typeface="Times New Roman" panose="02020603050405020304" pitchFamily="18" charset="0"/>
              </a:rPr>
              <a:t>Overall I can Conclude that in My Project i.e. Titanic-Survival Prediction Undergoes Logistic Regression model.</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92766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E88B42-EBA7-5878-67C3-E6C830DBC52E}"/>
              </a:ext>
            </a:extLst>
          </p:cNvPr>
          <p:cNvSpPr txBox="1"/>
          <p:nvPr/>
        </p:nvSpPr>
        <p:spPr>
          <a:xfrm>
            <a:off x="453541" y="277655"/>
            <a:ext cx="3558989" cy="523220"/>
          </a:xfrm>
          <a:prstGeom prst="rect">
            <a:avLst/>
          </a:prstGeom>
          <a:noFill/>
        </p:spPr>
        <p:txBody>
          <a:bodyPr wrap="square" rtlCol="0">
            <a:spAutoFit/>
          </a:bodyPr>
          <a:lstStyle/>
          <a:p>
            <a:r>
              <a:rPr lang="en-US" sz="2800" b="1" u="sng" dirty="0">
                <a:latin typeface="Times New Roman" panose="02020603050405020304" pitchFamily="18" charset="0"/>
                <a:cs typeface="Times New Roman" panose="02020603050405020304" pitchFamily="18" charset="0"/>
              </a:rPr>
              <a:t>Existing System :</a:t>
            </a:r>
          </a:p>
        </p:txBody>
      </p:sp>
      <p:sp>
        <p:nvSpPr>
          <p:cNvPr id="3" name="TextBox 2">
            <a:extLst>
              <a:ext uri="{FF2B5EF4-FFF2-40B4-BE49-F238E27FC236}">
                <a16:creationId xmlns:a16="http://schemas.microsoft.com/office/drawing/2014/main" id="{0C12E0D9-8902-1E80-DCB3-C4AC52DD26CD}"/>
              </a:ext>
            </a:extLst>
          </p:cNvPr>
          <p:cNvSpPr txBox="1"/>
          <p:nvPr/>
        </p:nvSpPr>
        <p:spPr>
          <a:xfrm>
            <a:off x="1230726" y="751344"/>
            <a:ext cx="10115297" cy="4985980"/>
          </a:xfrm>
          <a:prstGeom prst="rect">
            <a:avLst/>
          </a:prstGeom>
          <a:noFill/>
        </p:spPr>
        <p:txBody>
          <a:bodyPr wrap="square" rtlCol="0">
            <a:spAutoFit/>
          </a:bodyPr>
          <a:lstStyle/>
          <a:p>
            <a:pPr marL="285750" indent="-285750">
              <a:buFont typeface="Arial" panose="020B0604020202020204" pitchFamily="34" charset="0"/>
              <a:buChar char="•"/>
            </a:pP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a:p>
            <a:pPr marL="285750" indent="-285750" algn="just">
              <a:buFont typeface="Arial" panose="020B0604020202020204" pitchFamily="34" charset="0"/>
              <a:buChar char="•"/>
            </a:pPr>
            <a:r>
              <a:rPr lang="en-US" sz="2000" dirty="0">
                <a:latin typeface="Times New Roman" panose="02020603050405020304" pitchFamily="18" charset="0"/>
                <a:ea typeface="Cambria" panose="02040503050406030204" pitchFamily="18" charset="0"/>
                <a:cs typeface="Times New Roman" panose="02020603050405020304" pitchFamily="18" charset="0"/>
              </a:rPr>
              <a:t>My Project Topic : Titanic-Survival Prediction is many operated by using the algorithm in Supervised Machine Learning </a:t>
            </a:r>
            <a:r>
              <a:rPr lang="en-US" sz="2000" dirty="0" err="1">
                <a:latin typeface="Times New Roman" panose="02020603050405020304" pitchFamily="18" charset="0"/>
                <a:ea typeface="Cambria" panose="02040503050406030204" pitchFamily="18" charset="0"/>
                <a:cs typeface="Times New Roman" panose="02020603050405020304" pitchFamily="18" charset="0"/>
              </a:rPr>
              <a:t>i.e</a:t>
            </a:r>
            <a:r>
              <a:rPr lang="en-US" sz="2000" dirty="0">
                <a:latin typeface="Times New Roman" panose="02020603050405020304" pitchFamily="18" charset="0"/>
                <a:ea typeface="Cambria" panose="02040503050406030204" pitchFamily="18" charset="0"/>
                <a:cs typeface="Times New Roman" panose="02020603050405020304" pitchFamily="18" charset="0"/>
              </a:rPr>
              <a:t>; Classification.</a:t>
            </a:r>
          </a:p>
          <a:p>
            <a:pPr marL="285750" indent="-285750" algn="just">
              <a:buFont typeface="Arial" panose="020B0604020202020204" pitchFamily="34" charset="0"/>
              <a:buChar char="•"/>
            </a:pPr>
            <a:r>
              <a:rPr lang="en-US" sz="2000" dirty="0">
                <a:latin typeface="Times New Roman" panose="02020603050405020304" pitchFamily="18" charset="0"/>
                <a:ea typeface="Cambria" panose="02040503050406030204" pitchFamily="18" charset="0"/>
                <a:cs typeface="Times New Roman" panose="02020603050405020304" pitchFamily="18" charset="0"/>
              </a:rPr>
              <a:t>In that Classification Algorithm we used “LOGISTIC REGRESSION” Model for predicting the Survived or not survived data of the passengers travelled in the Ship.</a:t>
            </a:r>
          </a:p>
          <a:p>
            <a:pPr marL="285750" indent="-285750" algn="just">
              <a:buFont typeface="Arial" panose="020B0604020202020204" pitchFamily="34" charset="0"/>
              <a:buChar char="•"/>
            </a:pPr>
            <a:r>
              <a:rPr lang="en-US" sz="2000" dirty="0">
                <a:latin typeface="Times New Roman" panose="02020603050405020304" pitchFamily="18" charset="0"/>
                <a:ea typeface="Cambria" panose="02040503050406030204" pitchFamily="18" charset="0"/>
                <a:cs typeface="Times New Roman" panose="02020603050405020304" pitchFamily="18" charset="0"/>
              </a:rPr>
              <a:t>Alternative ways to Titanic Survival Prediction are:</a:t>
            </a:r>
          </a:p>
          <a:p>
            <a:pPr marL="285750" indent="-285750" algn="just">
              <a:buFont typeface="Arial" panose="020B0604020202020204" pitchFamily="34" charset="0"/>
              <a:buChar char="•"/>
            </a:pPr>
            <a:r>
              <a:rPr lang="en-US" sz="2000" dirty="0">
                <a:latin typeface="Times New Roman" panose="02020603050405020304" pitchFamily="18" charset="0"/>
                <a:ea typeface="Cambria" panose="02040503050406030204" pitchFamily="18" charset="0"/>
                <a:cs typeface="Times New Roman" panose="02020603050405020304" pitchFamily="18" charset="0"/>
              </a:rPr>
              <a:t>Tree Based Methods(Random Forest Method)</a:t>
            </a:r>
          </a:p>
          <a:p>
            <a:pPr marL="285750" indent="-285750" algn="just">
              <a:buFont typeface="Arial" panose="020B0604020202020204" pitchFamily="34" charset="0"/>
              <a:buChar char="•"/>
            </a:pPr>
            <a:r>
              <a:rPr lang="en-US" sz="2000" dirty="0">
                <a:latin typeface="Times New Roman" panose="02020603050405020304" pitchFamily="18" charset="0"/>
                <a:ea typeface="Cambria" panose="02040503050406030204" pitchFamily="18" charset="0"/>
                <a:cs typeface="Times New Roman" panose="02020603050405020304" pitchFamily="18" charset="0"/>
              </a:rPr>
              <a:t>Neural Networks</a:t>
            </a:r>
          </a:p>
          <a:p>
            <a:pPr marL="285750" indent="-285750" algn="just">
              <a:buFont typeface="Arial" panose="020B0604020202020204" pitchFamily="34" charset="0"/>
              <a:buChar char="•"/>
            </a:pPr>
            <a:r>
              <a:rPr lang="en-US" sz="2000" dirty="0">
                <a:latin typeface="Times New Roman" panose="02020603050405020304" pitchFamily="18" charset="0"/>
                <a:ea typeface="Cambria" panose="02040503050406030204" pitchFamily="18" charset="0"/>
                <a:cs typeface="Times New Roman" panose="02020603050405020304" pitchFamily="18" charset="0"/>
              </a:rPr>
              <a:t> Support Vector Machines</a:t>
            </a:r>
          </a:p>
          <a:p>
            <a:pPr marL="285750" indent="-285750" algn="just">
              <a:buFont typeface="Arial" panose="020B0604020202020204" pitchFamily="34" charset="0"/>
              <a:buChar char="•"/>
            </a:pPr>
            <a:r>
              <a:rPr lang="en-US" sz="2000" dirty="0">
                <a:latin typeface="Times New Roman" panose="02020603050405020304" pitchFamily="18" charset="0"/>
                <a:ea typeface="Cambria" panose="02040503050406030204" pitchFamily="18" charset="0"/>
                <a:cs typeface="Times New Roman" panose="02020603050405020304" pitchFamily="18" charset="0"/>
              </a:rPr>
              <a:t>Because we want survival people value that means probability ratio . So among all the other algorithms for binary classifications we use logistic regression . So I and our team we prefer logistic regression.</a:t>
            </a:r>
          </a:p>
          <a:p>
            <a:pPr marL="285750" indent="-285750" algn="just">
              <a:buFont typeface="Arial" panose="020B0604020202020204" pitchFamily="34" charset="0"/>
              <a:buChar char="•"/>
            </a:pPr>
            <a:r>
              <a:rPr lang="en-US" sz="2000" dirty="0">
                <a:latin typeface="Times New Roman" panose="02020603050405020304" pitchFamily="18" charset="0"/>
                <a:ea typeface="Cambria" panose="02040503050406030204" pitchFamily="18" charset="0"/>
                <a:cs typeface="Times New Roman" panose="02020603050405020304" pitchFamily="18" charset="0"/>
              </a:rPr>
              <a:t>The reason for using Logistic Regression is that this Regression model is used for predicting the Categorical Dependent  variables of given Independent variables.</a:t>
            </a:r>
          </a:p>
          <a:p>
            <a:pPr marL="285750" indent="-285750" algn="just">
              <a:buFont typeface="Arial" panose="020B0604020202020204" pitchFamily="34" charset="0"/>
              <a:buChar char="•"/>
            </a:pPr>
            <a:r>
              <a:rPr lang="en-US" sz="2000" dirty="0">
                <a:latin typeface="Times New Roman" panose="02020603050405020304" pitchFamily="18" charset="0"/>
                <a:ea typeface="Cambria" panose="02040503050406030204" pitchFamily="18" charset="0"/>
                <a:cs typeface="Times New Roman" panose="02020603050405020304" pitchFamily="18" charset="0"/>
              </a:rPr>
              <a:t>That means it gives an output of either 0 or 1 / Yes or No. Here in this project the outcome comes as either the passenger is predicted to be survived or not to be survived.</a:t>
            </a:r>
            <a:endParaRPr lang="en-IN" sz="2000" dirty="0">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18949162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030FF38-4FF3-57C9-2846-B5C53F305FEE}"/>
              </a:ext>
            </a:extLst>
          </p:cNvPr>
          <p:cNvSpPr txBox="1"/>
          <p:nvPr/>
        </p:nvSpPr>
        <p:spPr>
          <a:xfrm>
            <a:off x="736204" y="736202"/>
            <a:ext cx="3686506" cy="523220"/>
          </a:xfrm>
          <a:prstGeom prst="rect">
            <a:avLst/>
          </a:prstGeom>
          <a:noFill/>
        </p:spPr>
        <p:txBody>
          <a:bodyPr wrap="square" rtlCol="0">
            <a:spAutoFit/>
          </a:bodyPr>
          <a:lstStyle/>
          <a:p>
            <a:r>
              <a:rPr lang="en-US" sz="2800" b="1" u="sng" dirty="0">
                <a:latin typeface="Times New Roman" panose="02020603050405020304" pitchFamily="18" charset="0"/>
                <a:cs typeface="Times New Roman" panose="02020603050405020304" pitchFamily="18" charset="0"/>
              </a:rPr>
              <a:t>Proposed System :</a:t>
            </a:r>
          </a:p>
        </p:txBody>
      </p:sp>
      <p:sp>
        <p:nvSpPr>
          <p:cNvPr id="3" name="TextBox 2">
            <a:extLst>
              <a:ext uri="{FF2B5EF4-FFF2-40B4-BE49-F238E27FC236}">
                <a16:creationId xmlns:a16="http://schemas.microsoft.com/office/drawing/2014/main" id="{B0634E93-4035-6229-D952-D8FB26630F3A}"/>
              </a:ext>
            </a:extLst>
          </p:cNvPr>
          <p:cNvSpPr txBox="1"/>
          <p:nvPr/>
        </p:nvSpPr>
        <p:spPr>
          <a:xfrm>
            <a:off x="736203" y="1582362"/>
            <a:ext cx="10563167" cy="2862322"/>
          </a:xfrm>
          <a:prstGeom prst="rect">
            <a:avLst/>
          </a:prstGeom>
          <a:noFill/>
        </p:spPr>
        <p:txBody>
          <a:bodyPr wrap="square" rtlCol="0">
            <a:spAutoFit/>
          </a:bodyPr>
          <a:lstStyle/>
          <a:p>
            <a:pPr marL="342900" indent="-342900" algn="just">
              <a:buFont typeface="Arial" panose="020B0604020202020204" pitchFamily="34" charset="0"/>
              <a:buChar char="•"/>
            </a:pPr>
            <a:r>
              <a:rPr lang="en-IN" sz="2000" dirty="0">
                <a:latin typeface="Times New Roman" panose="02020603050405020304" pitchFamily="18" charset="0"/>
                <a:ea typeface="Cambria" panose="02040503050406030204" pitchFamily="18" charset="0"/>
                <a:cs typeface="Times New Roman" panose="02020603050405020304" pitchFamily="18" charset="0"/>
              </a:rPr>
              <a:t>In our Project we used Classification Algorithm in Supervised Machine Learning because in this algorithm the Target will represent whether a particular data has defaulted (normally represented by 1 or 0/ True or False  / Yes or No)</a:t>
            </a:r>
          </a:p>
          <a:p>
            <a:pPr marL="342900" indent="-342900" algn="just">
              <a:buFont typeface="Arial" panose="020B0604020202020204" pitchFamily="34" charset="0"/>
              <a:buChar char="•"/>
            </a:pPr>
            <a:endParaRPr lang="en-IN" sz="2000" dirty="0">
              <a:latin typeface="Times New Roman" panose="02020603050405020304" pitchFamily="18" charset="0"/>
              <a:ea typeface="Cambria" panose="020405030504060302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ea typeface="Cambria" panose="02040503050406030204" pitchFamily="18" charset="0"/>
                <a:cs typeface="Times New Roman" panose="02020603050405020304" pitchFamily="18" charset="0"/>
              </a:rPr>
              <a:t>Logistic Regression is a popular algorithm in machine learning for binary classifications tasks.</a:t>
            </a:r>
          </a:p>
          <a:p>
            <a:pPr marL="342900" indent="-342900" algn="just">
              <a:buFont typeface="Arial" panose="020B0604020202020204" pitchFamily="34" charset="0"/>
              <a:buChar char="•"/>
            </a:pPr>
            <a:endParaRPr lang="en-US" sz="2000" dirty="0">
              <a:latin typeface="Times New Roman" panose="02020603050405020304" pitchFamily="18" charset="0"/>
              <a:ea typeface="Cambria" panose="020405030504060302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ea typeface="Cambria" panose="02040503050406030204" pitchFamily="18" charset="0"/>
                <a:cs typeface="Times New Roman" panose="02020603050405020304" pitchFamily="18" charset="0"/>
              </a:rPr>
              <a:t>By fitting a logistic function to the training data, logistic regression estimates the relationship between the inputs and particular outcomes</a:t>
            </a:r>
            <a:endParaRPr lang="en-IN" sz="2000" dirty="0">
              <a:latin typeface="Times New Roman" panose="02020603050405020304" pitchFamily="18" charset="0"/>
              <a:ea typeface="Cambria" panose="02040503050406030204" pitchFamily="18" charset="0"/>
              <a:cs typeface="Times New Roman" panose="02020603050405020304" pitchFamily="18" charset="0"/>
            </a:endParaRP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02992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FCB06C-7EF3-EAA1-FCFB-B15C176A2058}"/>
              </a:ext>
            </a:extLst>
          </p:cNvPr>
          <p:cNvSpPr txBox="1"/>
          <p:nvPr/>
        </p:nvSpPr>
        <p:spPr>
          <a:xfrm>
            <a:off x="721202" y="361516"/>
            <a:ext cx="3343835" cy="523220"/>
          </a:xfrm>
          <a:prstGeom prst="rect">
            <a:avLst/>
          </a:prstGeom>
          <a:noFill/>
        </p:spPr>
        <p:txBody>
          <a:bodyPr wrap="square" rtlCol="0">
            <a:spAutoFit/>
          </a:bodyPr>
          <a:lstStyle/>
          <a:p>
            <a:r>
              <a:rPr lang="en-US" sz="2800" b="1" u="sng" dirty="0">
                <a:latin typeface="Times New Roman" panose="02020603050405020304" pitchFamily="18" charset="0"/>
                <a:cs typeface="Times New Roman" panose="02020603050405020304" pitchFamily="18" charset="0"/>
              </a:rPr>
              <a:t>Flow Chart :</a:t>
            </a:r>
          </a:p>
        </p:txBody>
      </p:sp>
      <p:sp>
        <p:nvSpPr>
          <p:cNvPr id="3" name="TextBox 2">
            <a:extLst>
              <a:ext uri="{FF2B5EF4-FFF2-40B4-BE49-F238E27FC236}">
                <a16:creationId xmlns:a16="http://schemas.microsoft.com/office/drawing/2014/main" id="{DD0E5B95-66FF-4EE3-316D-F1C2554E7EDF}"/>
              </a:ext>
            </a:extLst>
          </p:cNvPr>
          <p:cNvSpPr txBox="1"/>
          <p:nvPr/>
        </p:nvSpPr>
        <p:spPr>
          <a:xfrm>
            <a:off x="914400" y="1237128"/>
            <a:ext cx="7623110" cy="400110"/>
          </a:xfrm>
          <a:prstGeom prst="rect">
            <a:avLst/>
          </a:prstGeom>
          <a:noFill/>
        </p:spPr>
        <p:txBody>
          <a:bodyPr wrap="square" rtlCol="0">
            <a:spAutoFit/>
          </a:bodyPr>
          <a:lstStyle/>
          <a:p>
            <a:pPr marL="285750" indent="-285750">
              <a:buFont typeface="Arial" panose="020B0604020202020204" pitchFamily="34" charset="0"/>
              <a:buChar char="•"/>
            </a:pPr>
            <a:r>
              <a:rPr lang="en-IN" sz="2000" dirty="0">
                <a:latin typeface="Times New Roman" panose="02020603050405020304" pitchFamily="18" charset="0"/>
                <a:ea typeface="Cambria" panose="02040503050406030204" pitchFamily="18" charset="0"/>
                <a:cs typeface="Times New Roman" panose="02020603050405020304" pitchFamily="18" charset="0"/>
              </a:rPr>
              <a:t>This is the Flow chart on the Project ‘Titanic-Survival Prediction’.</a:t>
            </a:r>
          </a:p>
        </p:txBody>
      </p:sp>
      <p:pic>
        <p:nvPicPr>
          <p:cNvPr id="4" name="Picture 3">
            <a:extLst>
              <a:ext uri="{FF2B5EF4-FFF2-40B4-BE49-F238E27FC236}">
                <a16:creationId xmlns:a16="http://schemas.microsoft.com/office/drawing/2014/main" id="{F60F3E1C-1741-72A6-0FC9-645415A3F46D}"/>
              </a:ext>
            </a:extLst>
          </p:cNvPr>
          <p:cNvPicPr>
            <a:picLocks noChangeAspect="1"/>
          </p:cNvPicPr>
          <p:nvPr/>
        </p:nvPicPr>
        <p:blipFill>
          <a:blip r:embed="rId2"/>
          <a:stretch>
            <a:fillRect/>
          </a:stretch>
        </p:blipFill>
        <p:spPr>
          <a:xfrm>
            <a:off x="825614" y="1849540"/>
            <a:ext cx="8552952" cy="3912206"/>
          </a:xfrm>
          <a:prstGeom prst="rect">
            <a:avLst/>
          </a:prstGeom>
        </p:spPr>
      </p:pic>
    </p:spTree>
    <p:extLst>
      <p:ext uri="{BB962C8B-B14F-4D97-AF65-F5344CB8AC3E}">
        <p14:creationId xmlns:p14="http://schemas.microsoft.com/office/powerpoint/2010/main" val="17538749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3DE7BA-1824-1B11-6ED2-B9DB1AD9D671}"/>
              </a:ext>
            </a:extLst>
          </p:cNvPr>
          <p:cNvSpPr txBox="1"/>
          <p:nvPr/>
        </p:nvSpPr>
        <p:spPr>
          <a:xfrm rot="10800000" flipV="1">
            <a:off x="714981" y="456867"/>
            <a:ext cx="6902823" cy="523220"/>
          </a:xfrm>
          <a:prstGeom prst="rect">
            <a:avLst/>
          </a:prstGeom>
          <a:noFill/>
        </p:spPr>
        <p:txBody>
          <a:bodyPr wrap="square" rtlCol="0">
            <a:spAutoFit/>
          </a:bodyPr>
          <a:lstStyle/>
          <a:p>
            <a:r>
              <a:rPr lang="en-US" sz="2800" b="1" u="sng" dirty="0">
                <a:latin typeface="Times New Roman" panose="02020603050405020304" pitchFamily="18" charset="0"/>
                <a:cs typeface="Times New Roman" panose="02020603050405020304" pitchFamily="18" charset="0"/>
              </a:rPr>
              <a:t>Project Code :</a:t>
            </a:r>
          </a:p>
        </p:txBody>
      </p:sp>
      <p:sp>
        <p:nvSpPr>
          <p:cNvPr id="4" name="TextBox 3">
            <a:extLst>
              <a:ext uri="{FF2B5EF4-FFF2-40B4-BE49-F238E27FC236}">
                <a16:creationId xmlns:a16="http://schemas.microsoft.com/office/drawing/2014/main" id="{319B2690-AB66-5CE7-AD61-867DC18C6C31}"/>
              </a:ext>
            </a:extLst>
          </p:cNvPr>
          <p:cNvSpPr txBox="1"/>
          <p:nvPr/>
        </p:nvSpPr>
        <p:spPr>
          <a:xfrm>
            <a:off x="1229444" y="1420996"/>
            <a:ext cx="9762017" cy="3170099"/>
          </a:xfrm>
          <a:prstGeom prst="rect">
            <a:avLst/>
          </a:prstGeom>
          <a:noFill/>
        </p:spPr>
        <p:txBody>
          <a:bodyPr wrap="square" rtlCol="0">
            <a:spAutoFit/>
          </a:bodyPr>
          <a:lstStyle/>
          <a:p>
            <a:pPr marL="285750" indent="-285750" algn="just">
              <a:buFont typeface="Arial" panose="020B0604020202020204" pitchFamily="34" charset="0"/>
              <a:buChar char="•"/>
            </a:pPr>
            <a:r>
              <a:rPr lang="en-IN" sz="2000" dirty="0">
                <a:latin typeface="Times New Roman" panose="02020603050405020304" pitchFamily="18" charset="0"/>
                <a:ea typeface="Cambria" panose="02040503050406030204" pitchFamily="18" charset="0"/>
                <a:cs typeface="Times New Roman" panose="02020603050405020304" pitchFamily="18" charset="0"/>
              </a:rPr>
              <a:t>Titanic-Survival Prediction is a project based on “</a:t>
            </a:r>
            <a:r>
              <a:rPr lang="en-IN" sz="2000" u="sng" dirty="0">
                <a:latin typeface="Times New Roman" panose="02020603050405020304" pitchFamily="18" charset="0"/>
                <a:ea typeface="Cambria" panose="02040503050406030204" pitchFamily="18" charset="0"/>
                <a:cs typeface="Times New Roman" panose="02020603050405020304" pitchFamily="18" charset="0"/>
              </a:rPr>
              <a:t>LOGISTIC REGRESSION</a:t>
            </a:r>
            <a:r>
              <a:rPr lang="en-IN" sz="2000" dirty="0">
                <a:latin typeface="Times New Roman" panose="02020603050405020304" pitchFamily="18" charset="0"/>
                <a:ea typeface="Cambria" panose="02040503050406030204" pitchFamily="18" charset="0"/>
                <a:cs typeface="Times New Roman" panose="02020603050405020304" pitchFamily="18" charset="0"/>
              </a:rPr>
              <a:t>” model </a:t>
            </a:r>
            <a:r>
              <a:rPr lang="en-IN" sz="2000" dirty="0" err="1">
                <a:latin typeface="Times New Roman" panose="02020603050405020304" pitchFamily="18" charset="0"/>
                <a:ea typeface="Cambria" panose="02040503050406030204" pitchFamily="18" charset="0"/>
                <a:cs typeface="Times New Roman" panose="02020603050405020304" pitchFamily="18" charset="0"/>
              </a:rPr>
              <a:t>i.e</a:t>
            </a:r>
            <a:r>
              <a:rPr lang="en-IN" sz="2000" dirty="0">
                <a:latin typeface="Times New Roman" panose="02020603050405020304" pitchFamily="18" charset="0"/>
                <a:ea typeface="Cambria" panose="02040503050406030204" pitchFamily="18" charset="0"/>
                <a:cs typeface="Times New Roman" panose="02020603050405020304" pitchFamily="18" charset="0"/>
              </a:rPr>
              <a:t>; It is used for Predicting Categorical Dependent Variables using a Given set of Independent Variables.</a:t>
            </a:r>
          </a:p>
          <a:p>
            <a:pPr marL="285750" indent="-285750" algn="just">
              <a:buFont typeface="Arial" panose="020B0604020202020204" pitchFamily="34" charset="0"/>
              <a:buChar char="•"/>
            </a:pPr>
            <a:endParaRPr lang="en-IN" sz="2000" dirty="0">
              <a:latin typeface="Times New Roman" panose="02020603050405020304" pitchFamily="18" charset="0"/>
              <a:ea typeface="Cambria" panose="02040503050406030204" pitchFamily="18" charset="0"/>
              <a:cs typeface="Times New Roman" panose="02020603050405020304" pitchFamily="18" charset="0"/>
            </a:endParaRPr>
          </a:p>
          <a:p>
            <a:pPr marL="285750" indent="-285750" algn="just">
              <a:buFont typeface="Arial" panose="020B0604020202020204" pitchFamily="34" charset="0"/>
              <a:buChar char="•"/>
            </a:pPr>
            <a:r>
              <a:rPr lang="en-IN" sz="2000" dirty="0">
                <a:latin typeface="Times New Roman" panose="02020603050405020304" pitchFamily="18" charset="0"/>
                <a:ea typeface="Cambria" panose="02040503050406030204" pitchFamily="18" charset="0"/>
                <a:cs typeface="Times New Roman" panose="02020603050405020304" pitchFamily="18" charset="0"/>
              </a:rPr>
              <a:t>Titanic-Ship Predictions will predict the values of the Passengers Travelled in the Ship are Predicted to be Survived Or Not Survived.</a:t>
            </a:r>
          </a:p>
          <a:p>
            <a:pPr marL="285750" indent="-285750" algn="just">
              <a:buFont typeface="Arial" panose="020B0604020202020204" pitchFamily="34" charset="0"/>
              <a:buChar char="•"/>
            </a:pPr>
            <a:endParaRPr lang="en-IN" sz="2000" dirty="0">
              <a:latin typeface="Times New Roman" panose="02020603050405020304" pitchFamily="18" charset="0"/>
              <a:ea typeface="Cambria" panose="02040503050406030204" pitchFamily="18" charset="0"/>
              <a:cs typeface="Times New Roman" panose="02020603050405020304" pitchFamily="18" charset="0"/>
            </a:endParaRPr>
          </a:p>
          <a:p>
            <a:pPr marL="285750" indent="-285750" algn="just">
              <a:buFont typeface="Arial" panose="020B0604020202020204" pitchFamily="34" charset="0"/>
              <a:buChar char="•"/>
            </a:pPr>
            <a:r>
              <a:rPr lang="en-IN" sz="2000" dirty="0">
                <a:latin typeface="Times New Roman" panose="02020603050405020304" pitchFamily="18" charset="0"/>
                <a:ea typeface="Cambria" panose="02040503050406030204" pitchFamily="18" charset="0"/>
                <a:cs typeface="Times New Roman" panose="02020603050405020304" pitchFamily="18" charset="0"/>
              </a:rPr>
              <a:t>We have to gather the Dataset of Titanic Prediction from “KAGGLE” to Import the data before executing the Code.</a:t>
            </a:r>
          </a:p>
          <a:p>
            <a:pPr marL="285750" indent="-28575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00876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EDA2624-1470-0C4B-CD55-B72A405006BD}"/>
              </a:ext>
            </a:extLst>
          </p:cNvPr>
          <p:cNvPicPr>
            <a:picLocks noChangeAspect="1"/>
          </p:cNvPicPr>
          <p:nvPr/>
        </p:nvPicPr>
        <p:blipFill>
          <a:blip r:embed="rId2"/>
          <a:stretch>
            <a:fillRect/>
          </a:stretch>
        </p:blipFill>
        <p:spPr>
          <a:xfrm>
            <a:off x="319539" y="1078027"/>
            <a:ext cx="9731158" cy="3960504"/>
          </a:xfrm>
          <a:prstGeom prst="rect">
            <a:avLst/>
          </a:prstGeom>
        </p:spPr>
      </p:pic>
    </p:spTree>
    <p:extLst>
      <p:ext uri="{BB962C8B-B14F-4D97-AF65-F5344CB8AC3E}">
        <p14:creationId xmlns:p14="http://schemas.microsoft.com/office/powerpoint/2010/main" val="756645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E18C95E-1CA0-F955-20AE-44737CFA7706}"/>
              </a:ext>
            </a:extLst>
          </p:cNvPr>
          <p:cNvPicPr>
            <a:picLocks noChangeAspect="1"/>
          </p:cNvPicPr>
          <p:nvPr/>
        </p:nvPicPr>
        <p:blipFill>
          <a:blip r:embed="rId2"/>
          <a:stretch>
            <a:fillRect/>
          </a:stretch>
        </p:blipFill>
        <p:spPr>
          <a:xfrm>
            <a:off x="862632" y="461776"/>
            <a:ext cx="3170195" cy="5654530"/>
          </a:xfrm>
          <a:prstGeom prst="rect">
            <a:avLst/>
          </a:prstGeom>
        </p:spPr>
      </p:pic>
      <p:pic>
        <p:nvPicPr>
          <p:cNvPr id="8" name="Picture 7">
            <a:extLst>
              <a:ext uri="{FF2B5EF4-FFF2-40B4-BE49-F238E27FC236}">
                <a16:creationId xmlns:a16="http://schemas.microsoft.com/office/drawing/2014/main" id="{EC2B00D9-F992-C897-6A12-8389E46D902E}"/>
              </a:ext>
            </a:extLst>
          </p:cNvPr>
          <p:cNvPicPr>
            <a:picLocks noChangeAspect="1"/>
          </p:cNvPicPr>
          <p:nvPr/>
        </p:nvPicPr>
        <p:blipFill>
          <a:blip r:embed="rId3"/>
          <a:stretch>
            <a:fillRect/>
          </a:stretch>
        </p:blipFill>
        <p:spPr>
          <a:xfrm>
            <a:off x="4461234" y="1217229"/>
            <a:ext cx="5024288" cy="2654975"/>
          </a:xfrm>
          <a:prstGeom prst="rect">
            <a:avLst/>
          </a:prstGeom>
        </p:spPr>
      </p:pic>
      <p:pic>
        <p:nvPicPr>
          <p:cNvPr id="10" name="Picture 9">
            <a:extLst>
              <a:ext uri="{FF2B5EF4-FFF2-40B4-BE49-F238E27FC236}">
                <a16:creationId xmlns:a16="http://schemas.microsoft.com/office/drawing/2014/main" id="{C609F1FC-6C6F-342D-EEC8-384FDAEE5900}"/>
              </a:ext>
            </a:extLst>
          </p:cNvPr>
          <p:cNvPicPr>
            <a:picLocks noChangeAspect="1"/>
          </p:cNvPicPr>
          <p:nvPr/>
        </p:nvPicPr>
        <p:blipFill>
          <a:blip r:embed="rId4"/>
          <a:stretch>
            <a:fillRect/>
          </a:stretch>
        </p:blipFill>
        <p:spPr>
          <a:xfrm>
            <a:off x="4461234" y="3956605"/>
            <a:ext cx="3787468" cy="1684166"/>
          </a:xfrm>
          <a:prstGeom prst="rect">
            <a:avLst/>
          </a:prstGeom>
        </p:spPr>
      </p:pic>
    </p:spTree>
    <p:extLst>
      <p:ext uri="{BB962C8B-B14F-4D97-AF65-F5344CB8AC3E}">
        <p14:creationId xmlns:p14="http://schemas.microsoft.com/office/powerpoint/2010/main" val="5651751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0B7DD9-D592-345B-B4D4-EE6F76FAFCF2}"/>
              </a:ext>
            </a:extLst>
          </p:cNvPr>
          <p:cNvPicPr>
            <a:picLocks noChangeAspect="1"/>
          </p:cNvPicPr>
          <p:nvPr/>
        </p:nvPicPr>
        <p:blipFill>
          <a:blip r:embed="rId2"/>
          <a:stretch>
            <a:fillRect/>
          </a:stretch>
        </p:blipFill>
        <p:spPr>
          <a:xfrm>
            <a:off x="1243681" y="1838516"/>
            <a:ext cx="3863675" cy="1874682"/>
          </a:xfrm>
          <a:prstGeom prst="rect">
            <a:avLst/>
          </a:prstGeom>
        </p:spPr>
      </p:pic>
      <p:pic>
        <p:nvPicPr>
          <p:cNvPr id="8" name="Picture 7">
            <a:extLst>
              <a:ext uri="{FF2B5EF4-FFF2-40B4-BE49-F238E27FC236}">
                <a16:creationId xmlns:a16="http://schemas.microsoft.com/office/drawing/2014/main" id="{155F8D8F-7322-1882-3C98-0E3D4712439F}"/>
              </a:ext>
            </a:extLst>
          </p:cNvPr>
          <p:cNvPicPr>
            <a:picLocks noChangeAspect="1"/>
          </p:cNvPicPr>
          <p:nvPr/>
        </p:nvPicPr>
        <p:blipFill>
          <a:blip r:embed="rId3"/>
          <a:stretch>
            <a:fillRect/>
          </a:stretch>
        </p:blipFill>
        <p:spPr>
          <a:xfrm>
            <a:off x="6634066" y="396053"/>
            <a:ext cx="3489650" cy="5212546"/>
          </a:xfrm>
          <a:prstGeom prst="rect">
            <a:avLst/>
          </a:prstGeom>
        </p:spPr>
      </p:pic>
    </p:spTree>
    <p:extLst>
      <p:ext uri="{BB962C8B-B14F-4D97-AF65-F5344CB8AC3E}">
        <p14:creationId xmlns:p14="http://schemas.microsoft.com/office/powerpoint/2010/main" val="28741175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9CC403D-8F1F-DFA6-C10F-E6F66E09FFB6}"/>
              </a:ext>
            </a:extLst>
          </p:cNvPr>
          <p:cNvPicPr>
            <a:picLocks noChangeAspect="1"/>
          </p:cNvPicPr>
          <p:nvPr/>
        </p:nvPicPr>
        <p:blipFill>
          <a:blip r:embed="rId2"/>
          <a:stretch>
            <a:fillRect/>
          </a:stretch>
        </p:blipFill>
        <p:spPr>
          <a:xfrm>
            <a:off x="1199305" y="424453"/>
            <a:ext cx="6919560" cy="5654530"/>
          </a:xfrm>
          <a:prstGeom prst="rect">
            <a:avLst/>
          </a:prstGeom>
        </p:spPr>
      </p:pic>
    </p:spTree>
    <p:extLst>
      <p:ext uri="{BB962C8B-B14F-4D97-AF65-F5344CB8AC3E}">
        <p14:creationId xmlns:p14="http://schemas.microsoft.com/office/powerpoint/2010/main" val="18563959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BB054F8-70F3-C9F5-B6F0-14D22250D1AC}"/>
              </a:ext>
            </a:extLst>
          </p:cNvPr>
          <p:cNvPicPr>
            <a:picLocks noChangeAspect="1"/>
          </p:cNvPicPr>
          <p:nvPr/>
        </p:nvPicPr>
        <p:blipFill>
          <a:blip r:embed="rId2"/>
          <a:stretch>
            <a:fillRect/>
          </a:stretch>
        </p:blipFill>
        <p:spPr>
          <a:xfrm>
            <a:off x="329785" y="485192"/>
            <a:ext cx="9140578" cy="5448796"/>
          </a:xfrm>
          <a:prstGeom prst="rect">
            <a:avLst/>
          </a:prstGeom>
        </p:spPr>
      </p:pic>
    </p:spTree>
    <p:extLst>
      <p:ext uri="{BB962C8B-B14F-4D97-AF65-F5344CB8AC3E}">
        <p14:creationId xmlns:p14="http://schemas.microsoft.com/office/powerpoint/2010/main" val="33396624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3971229-403A-27B5-4545-F3597B7A5240}"/>
              </a:ext>
            </a:extLst>
          </p:cNvPr>
          <p:cNvPicPr>
            <a:picLocks noChangeAspect="1"/>
          </p:cNvPicPr>
          <p:nvPr/>
        </p:nvPicPr>
        <p:blipFill>
          <a:blip r:embed="rId2"/>
          <a:stretch>
            <a:fillRect/>
          </a:stretch>
        </p:blipFill>
        <p:spPr>
          <a:xfrm>
            <a:off x="566737" y="708315"/>
            <a:ext cx="7643522" cy="4359018"/>
          </a:xfrm>
          <a:prstGeom prst="rect">
            <a:avLst/>
          </a:prstGeom>
        </p:spPr>
      </p:pic>
    </p:spTree>
    <p:extLst>
      <p:ext uri="{BB962C8B-B14F-4D97-AF65-F5344CB8AC3E}">
        <p14:creationId xmlns:p14="http://schemas.microsoft.com/office/powerpoint/2010/main" val="38123971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8C8EF15-08BC-F59D-ECA5-FFAC13E91FAB}"/>
              </a:ext>
            </a:extLst>
          </p:cNvPr>
          <p:cNvSpPr>
            <a:spLocks noGrp="1"/>
          </p:cNvSpPr>
          <p:nvPr>
            <p:ph type="title" idx="4294967295"/>
          </p:nvPr>
        </p:nvSpPr>
        <p:spPr>
          <a:xfrm>
            <a:off x="867747" y="287339"/>
            <a:ext cx="3054966" cy="841666"/>
          </a:xfrm>
        </p:spPr>
        <p:txBody>
          <a:bodyPr>
            <a:normAutofit/>
          </a:bodyPr>
          <a:lstStyle/>
          <a:p>
            <a:r>
              <a:rPr lang="en-IN" sz="2800" b="1" u="sng" dirty="0">
                <a:solidFill>
                  <a:schemeClr val="tx1"/>
                </a:solidFill>
                <a:latin typeface="Times New Roman" panose="02020603050405020304" pitchFamily="18" charset="0"/>
                <a:cs typeface="Times New Roman" panose="02020603050405020304" pitchFamily="18" charset="0"/>
              </a:rPr>
              <a:t>OUTPUT</a:t>
            </a:r>
            <a:r>
              <a:rPr lang="en-IN" sz="2800" b="1" dirty="0">
                <a:solidFill>
                  <a:schemeClr val="tx1"/>
                </a:solidFill>
                <a:latin typeface="Times New Roman" panose="02020603050405020304" pitchFamily="18" charset="0"/>
                <a:cs typeface="Times New Roman" panose="02020603050405020304" pitchFamily="18" charset="0"/>
              </a:rPr>
              <a:t>:</a:t>
            </a:r>
          </a:p>
        </p:txBody>
      </p:sp>
      <p:sp>
        <p:nvSpPr>
          <p:cNvPr id="9" name="Content Placeholder 8">
            <a:extLst>
              <a:ext uri="{FF2B5EF4-FFF2-40B4-BE49-F238E27FC236}">
                <a16:creationId xmlns:a16="http://schemas.microsoft.com/office/drawing/2014/main" id="{33BFAD2B-8888-1E22-C0A1-3272CDB75D21}"/>
              </a:ext>
            </a:extLst>
          </p:cNvPr>
          <p:cNvSpPr>
            <a:spLocks noGrp="1"/>
          </p:cNvSpPr>
          <p:nvPr>
            <p:ph idx="4294967295"/>
          </p:nvPr>
        </p:nvSpPr>
        <p:spPr>
          <a:xfrm>
            <a:off x="867746" y="4282548"/>
            <a:ext cx="8462865" cy="1301750"/>
          </a:xfrm>
        </p:spPr>
        <p:txBody>
          <a:bodyPr/>
          <a:lstStyle/>
          <a:p>
            <a:pPr marL="0" indent="0" algn="just">
              <a:buNone/>
            </a:pPr>
            <a:r>
              <a:rPr lang="en-IN"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IN" dirty="0">
                <a:solidFill>
                  <a:schemeClr val="tx1"/>
                </a:solidFill>
                <a:latin typeface="Times New Roman" panose="02020603050405020304" pitchFamily="18" charset="0"/>
                <a:cs typeface="Times New Roman" panose="02020603050405020304" pitchFamily="18" charset="0"/>
              </a:rPr>
              <a:t>Based on the given Input Data the Passenger is Predicted to be </a:t>
            </a:r>
            <a:r>
              <a:rPr lang="en-IN" b="1" dirty="0">
                <a:solidFill>
                  <a:schemeClr val="tx1"/>
                </a:solidFill>
                <a:latin typeface="Times New Roman" panose="02020603050405020304" pitchFamily="18" charset="0"/>
                <a:cs typeface="Times New Roman" panose="02020603050405020304" pitchFamily="18" charset="0"/>
              </a:rPr>
              <a:t>SURVIVED.</a:t>
            </a:r>
            <a:endParaRPr lang="en-IN" b="1" u="sng" dirty="0">
              <a:solidFill>
                <a:schemeClr val="tx1"/>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94A124E2-2A05-FEF5-E957-F888A8FB0E2E}"/>
              </a:ext>
            </a:extLst>
          </p:cNvPr>
          <p:cNvPicPr>
            <a:picLocks noChangeAspect="1"/>
          </p:cNvPicPr>
          <p:nvPr/>
        </p:nvPicPr>
        <p:blipFill>
          <a:blip r:embed="rId2"/>
          <a:stretch>
            <a:fillRect/>
          </a:stretch>
        </p:blipFill>
        <p:spPr>
          <a:xfrm>
            <a:off x="867747" y="1375158"/>
            <a:ext cx="8217383" cy="2661237"/>
          </a:xfrm>
          <a:prstGeom prst="rect">
            <a:avLst/>
          </a:prstGeom>
        </p:spPr>
      </p:pic>
    </p:spTree>
    <p:extLst>
      <p:ext uri="{BB962C8B-B14F-4D97-AF65-F5344CB8AC3E}">
        <p14:creationId xmlns:p14="http://schemas.microsoft.com/office/powerpoint/2010/main" val="35004481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675B951-5840-6A11-7CE1-3293AC334237}"/>
              </a:ext>
            </a:extLst>
          </p:cNvPr>
          <p:cNvSpPr txBox="1"/>
          <p:nvPr/>
        </p:nvSpPr>
        <p:spPr>
          <a:xfrm>
            <a:off x="985520" y="447040"/>
            <a:ext cx="5821680" cy="523220"/>
          </a:xfrm>
          <a:prstGeom prst="rect">
            <a:avLst/>
          </a:prstGeom>
          <a:noFill/>
        </p:spPr>
        <p:txBody>
          <a:bodyPr wrap="square" rtlCol="0">
            <a:spAutoFit/>
          </a:bodyPr>
          <a:lstStyle/>
          <a:p>
            <a:r>
              <a:rPr lang="en-US" sz="2800" b="1" u="sng" dirty="0">
                <a:latin typeface="Times New Roman" panose="02020603050405020304" pitchFamily="18" charset="0"/>
                <a:cs typeface="Times New Roman" panose="02020603050405020304" pitchFamily="18" charset="0"/>
              </a:rPr>
              <a:t>References :</a:t>
            </a:r>
          </a:p>
        </p:txBody>
      </p:sp>
      <p:sp>
        <p:nvSpPr>
          <p:cNvPr id="5" name="TextBox 4">
            <a:extLst>
              <a:ext uri="{FF2B5EF4-FFF2-40B4-BE49-F238E27FC236}">
                <a16:creationId xmlns:a16="http://schemas.microsoft.com/office/drawing/2014/main" id="{1BB50FB4-CC2F-4EAF-8232-1C3217F449D9}"/>
              </a:ext>
            </a:extLst>
          </p:cNvPr>
          <p:cNvSpPr txBox="1"/>
          <p:nvPr/>
        </p:nvSpPr>
        <p:spPr>
          <a:xfrm>
            <a:off x="1422400" y="1320800"/>
            <a:ext cx="6604000" cy="400110"/>
          </a:xfrm>
          <a:prstGeom prst="rect">
            <a:avLst/>
          </a:prstGeom>
          <a:noFill/>
        </p:spPr>
        <p:txBody>
          <a:bodyPr wrap="square" rtlCol="0">
            <a:spAutoFit/>
          </a:bodyPr>
          <a:lstStyle/>
          <a:p>
            <a:r>
              <a:rPr lang="en-IN" sz="2000" dirty="0">
                <a:latin typeface="Times New Roman" panose="02020603050405020304" pitchFamily="18" charset="0"/>
                <a:ea typeface="Cambria" panose="02040503050406030204" pitchFamily="18" charset="0"/>
                <a:cs typeface="Times New Roman" panose="02020603050405020304" pitchFamily="18" charset="0"/>
                <a:sym typeface="Wingdings" panose="05000000000000000000" pitchFamily="2" charset="2"/>
              </a:rPr>
              <a:t> </a:t>
            </a:r>
            <a:r>
              <a:rPr lang="en-IN" sz="2000" dirty="0">
                <a:latin typeface="Times New Roman" panose="02020603050405020304" pitchFamily="18" charset="0"/>
                <a:ea typeface="Cambria" panose="02040503050406030204" pitchFamily="18" charset="0"/>
                <a:cs typeface="Times New Roman" panose="02020603050405020304" pitchFamily="18" charset="0"/>
              </a:rPr>
              <a:t>Consulting my mentor and lecturers</a:t>
            </a:r>
          </a:p>
        </p:txBody>
      </p:sp>
      <p:sp>
        <p:nvSpPr>
          <p:cNvPr id="6" name="TextBox 5">
            <a:extLst>
              <a:ext uri="{FF2B5EF4-FFF2-40B4-BE49-F238E27FC236}">
                <a16:creationId xmlns:a16="http://schemas.microsoft.com/office/drawing/2014/main" id="{BA1D4B68-22D6-B237-90CA-4D46D99DF2EE}"/>
              </a:ext>
            </a:extLst>
          </p:cNvPr>
          <p:cNvSpPr txBox="1"/>
          <p:nvPr/>
        </p:nvSpPr>
        <p:spPr>
          <a:xfrm>
            <a:off x="1422400" y="2082800"/>
            <a:ext cx="9347200" cy="369332"/>
          </a:xfrm>
          <a:prstGeom prst="rect">
            <a:avLst/>
          </a:prstGeom>
          <a:noFill/>
        </p:spPr>
        <p:txBody>
          <a:bodyPr wrap="square" rtlCol="0">
            <a:spAutoFit/>
          </a:bodyPr>
          <a:lstStyle/>
          <a:p>
            <a:r>
              <a:rPr lang="en-US" dirty="0">
                <a:sym typeface="Wingdings" panose="05000000000000000000" pitchFamily="2" charset="2"/>
              </a:rPr>
              <a:t> </a:t>
            </a:r>
            <a:r>
              <a:rPr lang="en-US" dirty="0">
                <a:solidFill>
                  <a:srgbClr val="66CCFF"/>
                </a:solidFill>
                <a:sym typeface="Wingdings" panose="05000000000000000000" pitchFamily="2" charset="2"/>
              </a:rPr>
              <a:t> </a:t>
            </a:r>
            <a:r>
              <a:rPr lang="en-US" dirty="0">
                <a:solidFill>
                  <a:srgbClr val="66CCFF"/>
                </a:solidFill>
              </a:rPr>
              <a:t>https://www.kaggle.com/code/nadintamer/titanic-survival-predictions-beginner</a:t>
            </a:r>
          </a:p>
        </p:txBody>
      </p:sp>
      <p:sp>
        <p:nvSpPr>
          <p:cNvPr id="7" name="TextBox 6">
            <a:extLst>
              <a:ext uri="{FF2B5EF4-FFF2-40B4-BE49-F238E27FC236}">
                <a16:creationId xmlns:a16="http://schemas.microsoft.com/office/drawing/2014/main" id="{E061BA4C-2533-063A-DA9B-CD021573480D}"/>
              </a:ext>
            </a:extLst>
          </p:cNvPr>
          <p:cNvSpPr txBox="1"/>
          <p:nvPr/>
        </p:nvSpPr>
        <p:spPr>
          <a:xfrm>
            <a:off x="1422400" y="2875280"/>
            <a:ext cx="7741920" cy="400110"/>
          </a:xfrm>
          <a:prstGeom prst="rect">
            <a:avLst/>
          </a:prstGeom>
          <a:noFill/>
        </p:spPr>
        <p:txBody>
          <a:bodyPr wrap="square" rtlCol="0">
            <a:spAutoFit/>
          </a:bodyPr>
          <a:lstStyle/>
          <a:p>
            <a:r>
              <a:rPr lang="en-US" sz="2000" dirty="0">
                <a:latin typeface="Cambria" panose="02040503050406030204" pitchFamily="18" charset="0"/>
                <a:ea typeface="Cambria" panose="02040503050406030204" pitchFamily="18" charset="0"/>
                <a:sym typeface="Wingdings" panose="05000000000000000000" pitchFamily="2" charset="2"/>
              </a:rPr>
              <a:t> </a:t>
            </a:r>
            <a:r>
              <a:rPr lang="en-US" sz="2000" dirty="0">
                <a:latin typeface="Cambria" panose="02040503050406030204" pitchFamily="18" charset="0"/>
                <a:ea typeface="Cambria" panose="02040503050406030204" pitchFamily="18" charset="0"/>
              </a:rPr>
              <a:t>I use the above website for the reference to clarify my doubts</a:t>
            </a:r>
          </a:p>
        </p:txBody>
      </p:sp>
    </p:spTree>
    <p:extLst>
      <p:ext uri="{BB962C8B-B14F-4D97-AF65-F5344CB8AC3E}">
        <p14:creationId xmlns:p14="http://schemas.microsoft.com/office/powerpoint/2010/main" val="886647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43920B-B0D0-7E62-3EF1-2E56C9A21739}"/>
              </a:ext>
            </a:extLst>
          </p:cNvPr>
          <p:cNvSpPr txBox="1"/>
          <p:nvPr/>
        </p:nvSpPr>
        <p:spPr>
          <a:xfrm>
            <a:off x="3476625" y="2028824"/>
            <a:ext cx="3905250" cy="2308324"/>
          </a:xfrm>
          <a:prstGeom prst="rect">
            <a:avLst/>
          </a:prstGeom>
          <a:noFill/>
        </p:spPr>
        <p:txBody>
          <a:bodyPr wrap="square" rtlCol="0">
            <a:spAutoFit/>
          </a:bodyPr>
          <a:lstStyle/>
          <a:p>
            <a:pPr algn="ctr"/>
            <a:r>
              <a:rPr lang="en-IN" sz="7200" b="1" dirty="0">
                <a:latin typeface="Times New Roman" panose="02020603050405020304" pitchFamily="18" charset="0"/>
                <a:cs typeface="Times New Roman" panose="02020603050405020304" pitchFamily="18" charset="0"/>
              </a:rPr>
              <a:t>THANK</a:t>
            </a:r>
          </a:p>
          <a:p>
            <a:pPr algn="ctr"/>
            <a:r>
              <a:rPr lang="en-IN" sz="7200" b="1" dirty="0">
                <a:latin typeface="Times New Roman" panose="02020603050405020304" pitchFamily="18" charset="0"/>
                <a:cs typeface="Times New Roman" panose="02020603050405020304" pitchFamily="18" charset="0"/>
              </a:rPr>
              <a:t>YOU</a:t>
            </a:r>
          </a:p>
        </p:txBody>
      </p:sp>
    </p:spTree>
    <p:extLst>
      <p:ext uri="{BB962C8B-B14F-4D97-AF65-F5344CB8AC3E}">
        <p14:creationId xmlns:p14="http://schemas.microsoft.com/office/powerpoint/2010/main" val="3040726400"/>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307</TotalTime>
  <Words>602</Words>
  <Application>Microsoft Office PowerPoint</Application>
  <PresentationFormat>Widescreen</PresentationFormat>
  <Paragraphs>60</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Calibri Light</vt:lpstr>
      <vt:lpstr>Cambria</vt:lpstr>
      <vt:lpstr>Times New Roman</vt:lpstr>
      <vt:lpstr>Wingdings</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OUTPUT: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Ramya Mandalapu</dc:creator>
  <cp:lastModifiedBy>Suvarna Lakshmi</cp:lastModifiedBy>
  <cp:revision>7</cp:revision>
  <dcterms:created xsi:type="dcterms:W3CDTF">2023-06-21T15:00:02Z</dcterms:created>
  <dcterms:modified xsi:type="dcterms:W3CDTF">2025-08-05T14:20:16Z</dcterms:modified>
</cp:coreProperties>
</file>